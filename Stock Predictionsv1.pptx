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8" r:id="rId2"/>
    <p:sldId id="259" r:id="rId3"/>
    <p:sldId id="257" r:id="rId4"/>
    <p:sldId id="261" r:id="rId5"/>
    <p:sldId id="260" r:id="rId6"/>
    <p:sldId id="262" r:id="rId7"/>
    <p:sldId id="264" r:id="rId8"/>
    <p:sldId id="265"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4" autoAdjust="0"/>
    <p:restoredTop sz="90795" autoAdjust="0"/>
  </p:normalViewPr>
  <p:slideViewPr>
    <p:cSldViewPr snapToGrid="0">
      <p:cViewPr varScale="1">
        <p:scale>
          <a:sx n="103" d="100"/>
          <a:sy n="103" d="100"/>
        </p:scale>
        <p:origin x="85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CCA28B-FB2F-4886-B0F5-00113D60C09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6CBE468-B3E4-40D2-8D07-D581B8792833}">
      <dgm:prSet custT="1"/>
      <dgm:spPr/>
      <dgm:t>
        <a:bodyPr/>
        <a:lstStyle/>
        <a:p>
          <a:pPr>
            <a:lnSpc>
              <a:spcPct val="100000"/>
            </a:lnSpc>
          </a:pPr>
          <a:r>
            <a:rPr lang="en-US" sz="2000" dirty="0"/>
            <a:t>Build the dashboard using </a:t>
          </a:r>
          <a:r>
            <a:rPr lang="en-US" sz="2000" dirty="0" err="1"/>
            <a:t>Plotly</a:t>
          </a:r>
          <a:r>
            <a:rPr lang="en-US" sz="2000" dirty="0"/>
            <a:t> dash</a:t>
          </a:r>
        </a:p>
      </dgm:t>
    </dgm:pt>
    <dgm:pt modelId="{051DF5B8-1B35-403E-9F4D-90B3A822DFAE}" type="parTrans" cxnId="{CD21006F-0318-4E75-8E6B-A2EB1AEB25C7}">
      <dgm:prSet/>
      <dgm:spPr/>
      <dgm:t>
        <a:bodyPr/>
        <a:lstStyle/>
        <a:p>
          <a:endParaRPr lang="en-US"/>
        </a:p>
      </dgm:t>
    </dgm:pt>
    <dgm:pt modelId="{BD79D252-5C72-4EC5-BDF1-E6922A2BE2D8}" type="sibTrans" cxnId="{CD21006F-0318-4E75-8E6B-A2EB1AEB25C7}">
      <dgm:prSet/>
      <dgm:spPr/>
      <dgm:t>
        <a:bodyPr/>
        <a:lstStyle/>
        <a:p>
          <a:endParaRPr lang="en-US"/>
        </a:p>
      </dgm:t>
    </dgm:pt>
    <dgm:pt modelId="{B6EB779E-FC68-4D51-8FD0-8F5C0B1D3897}">
      <dgm:prSet custT="1"/>
      <dgm:spPr/>
      <dgm:t>
        <a:bodyPr/>
        <a:lstStyle/>
        <a:p>
          <a:pPr>
            <a:lnSpc>
              <a:spcPct val="100000"/>
            </a:lnSpc>
          </a:pPr>
          <a:r>
            <a:rPr lang="en-US" sz="2000" dirty="0"/>
            <a:t>We build a dashboard to analyze stocks. Dash is a python framework that provides an abstraction over flask and </a:t>
          </a:r>
          <a:r>
            <a:rPr lang="en-US" sz="2000" dirty="0" err="1"/>
            <a:t>react.js</a:t>
          </a:r>
          <a:r>
            <a:rPr lang="en-US" sz="2000" dirty="0"/>
            <a:t> to build analytical web applications</a:t>
          </a:r>
        </a:p>
      </dgm:t>
    </dgm:pt>
    <dgm:pt modelId="{6EE21F2C-36AF-4BEA-A794-7BD00CFC3B53}" type="parTrans" cxnId="{68E56CA0-4ECF-4D1A-A8F6-24DF9FE3F746}">
      <dgm:prSet/>
      <dgm:spPr/>
      <dgm:t>
        <a:bodyPr/>
        <a:lstStyle/>
        <a:p>
          <a:endParaRPr lang="en-US"/>
        </a:p>
      </dgm:t>
    </dgm:pt>
    <dgm:pt modelId="{B8CA2D95-C70C-491E-9C11-5BF0F68BCC27}" type="sibTrans" cxnId="{68E56CA0-4ECF-4D1A-A8F6-24DF9FE3F746}">
      <dgm:prSet/>
      <dgm:spPr/>
      <dgm:t>
        <a:bodyPr/>
        <a:lstStyle/>
        <a:p>
          <a:endParaRPr lang="en-US"/>
        </a:p>
      </dgm:t>
    </dgm:pt>
    <dgm:pt modelId="{7773C714-9836-4A88-90B1-711BA3B4F9DD}" type="pres">
      <dgm:prSet presAssocID="{7CCCA28B-FB2F-4886-B0F5-00113D60C091}" presName="root" presStyleCnt="0">
        <dgm:presLayoutVars>
          <dgm:dir/>
          <dgm:resizeHandles val="exact"/>
        </dgm:presLayoutVars>
      </dgm:prSet>
      <dgm:spPr/>
    </dgm:pt>
    <dgm:pt modelId="{6E16CBB4-20BE-4AAD-95DF-ED1CEFD20F44}" type="pres">
      <dgm:prSet presAssocID="{76CBE468-B3E4-40D2-8D07-D581B8792833}" presName="compNode" presStyleCnt="0"/>
      <dgm:spPr/>
    </dgm:pt>
    <dgm:pt modelId="{09984357-4A15-4DF8-8DB7-F242EA7E66C8}" type="pres">
      <dgm:prSet presAssocID="{76CBE468-B3E4-40D2-8D07-D581B8792833}" presName="bgRect" presStyleLbl="bgShp" presStyleIdx="0" presStyleCnt="2"/>
      <dgm:spPr/>
    </dgm:pt>
    <dgm:pt modelId="{40A06B68-638D-48C2-A842-5F20A7380FEC}" type="pres">
      <dgm:prSet presAssocID="{76CBE468-B3E4-40D2-8D07-D581B879283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6359CF8B-FC8C-4A2C-B309-1A478D3634A9}" type="pres">
      <dgm:prSet presAssocID="{76CBE468-B3E4-40D2-8D07-D581B8792833}" presName="spaceRect" presStyleCnt="0"/>
      <dgm:spPr/>
    </dgm:pt>
    <dgm:pt modelId="{47EDC911-A0E2-4BA5-8BB2-EAB386C90977}" type="pres">
      <dgm:prSet presAssocID="{76CBE468-B3E4-40D2-8D07-D581B8792833}" presName="parTx" presStyleLbl="revTx" presStyleIdx="0" presStyleCnt="2">
        <dgm:presLayoutVars>
          <dgm:chMax val="0"/>
          <dgm:chPref val="0"/>
        </dgm:presLayoutVars>
      </dgm:prSet>
      <dgm:spPr/>
    </dgm:pt>
    <dgm:pt modelId="{598BEFDC-9D49-4A39-B549-52EA5749B93E}" type="pres">
      <dgm:prSet presAssocID="{BD79D252-5C72-4EC5-BDF1-E6922A2BE2D8}" presName="sibTrans" presStyleCnt="0"/>
      <dgm:spPr/>
    </dgm:pt>
    <dgm:pt modelId="{EA8EABC4-AF1A-4F65-9DB5-E1138E20BA09}" type="pres">
      <dgm:prSet presAssocID="{B6EB779E-FC68-4D51-8FD0-8F5C0B1D3897}" presName="compNode" presStyleCnt="0"/>
      <dgm:spPr/>
    </dgm:pt>
    <dgm:pt modelId="{B7AB8101-2560-40FF-847F-7A917F677775}" type="pres">
      <dgm:prSet presAssocID="{B6EB779E-FC68-4D51-8FD0-8F5C0B1D3897}" presName="bgRect" presStyleLbl="bgShp" presStyleIdx="1" presStyleCnt="2" custLinFactNeighborX="1905" custLinFactNeighborY="1355"/>
      <dgm:spPr/>
    </dgm:pt>
    <dgm:pt modelId="{092D6301-68B4-4F20-A198-B29CF024324E}" type="pres">
      <dgm:prSet presAssocID="{B6EB779E-FC68-4D51-8FD0-8F5C0B1D389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ientist"/>
        </a:ext>
      </dgm:extLst>
    </dgm:pt>
    <dgm:pt modelId="{AF3D5C69-7B72-4B64-927F-07182780A148}" type="pres">
      <dgm:prSet presAssocID="{B6EB779E-FC68-4D51-8FD0-8F5C0B1D3897}" presName="spaceRect" presStyleCnt="0"/>
      <dgm:spPr/>
    </dgm:pt>
    <dgm:pt modelId="{63AF29E1-7B7D-4206-8DC2-02545A1C53A2}" type="pres">
      <dgm:prSet presAssocID="{B6EB779E-FC68-4D51-8FD0-8F5C0B1D3897}" presName="parTx" presStyleLbl="revTx" presStyleIdx="1" presStyleCnt="2">
        <dgm:presLayoutVars>
          <dgm:chMax val="0"/>
          <dgm:chPref val="0"/>
        </dgm:presLayoutVars>
      </dgm:prSet>
      <dgm:spPr/>
    </dgm:pt>
  </dgm:ptLst>
  <dgm:cxnLst>
    <dgm:cxn modelId="{CD21006F-0318-4E75-8E6B-A2EB1AEB25C7}" srcId="{7CCCA28B-FB2F-4886-B0F5-00113D60C091}" destId="{76CBE468-B3E4-40D2-8D07-D581B8792833}" srcOrd="0" destOrd="0" parTransId="{051DF5B8-1B35-403E-9F4D-90B3A822DFAE}" sibTransId="{BD79D252-5C72-4EC5-BDF1-E6922A2BE2D8}"/>
    <dgm:cxn modelId="{31283F94-0D7D-4D2B-9DBF-562B3497D26B}" type="presOf" srcId="{7CCCA28B-FB2F-4886-B0F5-00113D60C091}" destId="{7773C714-9836-4A88-90B1-711BA3B4F9DD}" srcOrd="0" destOrd="0" presId="urn:microsoft.com/office/officeart/2018/2/layout/IconVerticalSolidList"/>
    <dgm:cxn modelId="{68E56CA0-4ECF-4D1A-A8F6-24DF9FE3F746}" srcId="{7CCCA28B-FB2F-4886-B0F5-00113D60C091}" destId="{B6EB779E-FC68-4D51-8FD0-8F5C0B1D3897}" srcOrd="1" destOrd="0" parTransId="{6EE21F2C-36AF-4BEA-A794-7BD00CFC3B53}" sibTransId="{B8CA2D95-C70C-491E-9C11-5BF0F68BCC27}"/>
    <dgm:cxn modelId="{687191C3-84F9-44BF-8C00-4C8BA0709E35}" type="presOf" srcId="{76CBE468-B3E4-40D2-8D07-D581B8792833}" destId="{47EDC911-A0E2-4BA5-8BB2-EAB386C90977}" srcOrd="0" destOrd="0" presId="urn:microsoft.com/office/officeart/2018/2/layout/IconVerticalSolidList"/>
    <dgm:cxn modelId="{E089ECF3-7EC5-4DB0-980A-AA676098293E}" type="presOf" srcId="{B6EB779E-FC68-4D51-8FD0-8F5C0B1D3897}" destId="{63AF29E1-7B7D-4206-8DC2-02545A1C53A2}" srcOrd="0" destOrd="0" presId="urn:microsoft.com/office/officeart/2018/2/layout/IconVerticalSolidList"/>
    <dgm:cxn modelId="{08FEFCD4-AFC0-473F-ACB9-43D7B8BEF531}" type="presParOf" srcId="{7773C714-9836-4A88-90B1-711BA3B4F9DD}" destId="{6E16CBB4-20BE-4AAD-95DF-ED1CEFD20F44}" srcOrd="0" destOrd="0" presId="urn:microsoft.com/office/officeart/2018/2/layout/IconVerticalSolidList"/>
    <dgm:cxn modelId="{BAE8675A-88FC-452E-9954-06C60F5E136F}" type="presParOf" srcId="{6E16CBB4-20BE-4AAD-95DF-ED1CEFD20F44}" destId="{09984357-4A15-4DF8-8DB7-F242EA7E66C8}" srcOrd="0" destOrd="0" presId="urn:microsoft.com/office/officeart/2018/2/layout/IconVerticalSolidList"/>
    <dgm:cxn modelId="{640ABBF2-5F6D-4D71-BB77-969B6C75AA21}" type="presParOf" srcId="{6E16CBB4-20BE-4AAD-95DF-ED1CEFD20F44}" destId="{40A06B68-638D-48C2-A842-5F20A7380FEC}" srcOrd="1" destOrd="0" presId="urn:microsoft.com/office/officeart/2018/2/layout/IconVerticalSolidList"/>
    <dgm:cxn modelId="{7044104B-A85B-4644-A293-EF99B6E39EA9}" type="presParOf" srcId="{6E16CBB4-20BE-4AAD-95DF-ED1CEFD20F44}" destId="{6359CF8B-FC8C-4A2C-B309-1A478D3634A9}" srcOrd="2" destOrd="0" presId="urn:microsoft.com/office/officeart/2018/2/layout/IconVerticalSolidList"/>
    <dgm:cxn modelId="{D6880211-C631-49F4-8D49-FC5D6A192C8C}" type="presParOf" srcId="{6E16CBB4-20BE-4AAD-95DF-ED1CEFD20F44}" destId="{47EDC911-A0E2-4BA5-8BB2-EAB386C90977}" srcOrd="3" destOrd="0" presId="urn:microsoft.com/office/officeart/2018/2/layout/IconVerticalSolidList"/>
    <dgm:cxn modelId="{C227F1AC-852C-4F5D-8011-0A566C4FE1CE}" type="presParOf" srcId="{7773C714-9836-4A88-90B1-711BA3B4F9DD}" destId="{598BEFDC-9D49-4A39-B549-52EA5749B93E}" srcOrd="1" destOrd="0" presId="urn:microsoft.com/office/officeart/2018/2/layout/IconVerticalSolidList"/>
    <dgm:cxn modelId="{62AB50EE-D1E3-4C57-A525-2B4017F6577F}" type="presParOf" srcId="{7773C714-9836-4A88-90B1-711BA3B4F9DD}" destId="{EA8EABC4-AF1A-4F65-9DB5-E1138E20BA09}" srcOrd="2" destOrd="0" presId="urn:microsoft.com/office/officeart/2018/2/layout/IconVerticalSolidList"/>
    <dgm:cxn modelId="{AD31B1B8-E146-4F14-BAF3-6538E814EFEE}" type="presParOf" srcId="{EA8EABC4-AF1A-4F65-9DB5-E1138E20BA09}" destId="{B7AB8101-2560-40FF-847F-7A917F677775}" srcOrd="0" destOrd="0" presId="urn:microsoft.com/office/officeart/2018/2/layout/IconVerticalSolidList"/>
    <dgm:cxn modelId="{39D92065-867D-4FA5-938B-07697A3537AB}" type="presParOf" srcId="{EA8EABC4-AF1A-4F65-9DB5-E1138E20BA09}" destId="{092D6301-68B4-4F20-A198-B29CF024324E}" srcOrd="1" destOrd="0" presId="urn:microsoft.com/office/officeart/2018/2/layout/IconVerticalSolidList"/>
    <dgm:cxn modelId="{E56AED57-91DD-478F-9507-EC895BF49770}" type="presParOf" srcId="{EA8EABC4-AF1A-4F65-9DB5-E1138E20BA09}" destId="{AF3D5C69-7B72-4B64-927F-07182780A148}" srcOrd="2" destOrd="0" presId="urn:microsoft.com/office/officeart/2018/2/layout/IconVerticalSolidList"/>
    <dgm:cxn modelId="{9FF17810-A5AC-4AF9-93E2-FF8526275B8D}" type="presParOf" srcId="{EA8EABC4-AF1A-4F65-9DB5-E1138E20BA09}" destId="{63AF29E1-7B7D-4206-8DC2-02545A1C53A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984357-4A15-4DF8-8DB7-F242EA7E66C8}">
      <dsp:nvSpPr>
        <dsp:cNvPr id="0" name=""/>
        <dsp:cNvSpPr/>
      </dsp:nvSpPr>
      <dsp:spPr>
        <a:xfrm>
          <a:off x="0" y="724762"/>
          <a:ext cx="7427466" cy="16070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A06B68-638D-48C2-A842-5F20A7380FEC}">
      <dsp:nvSpPr>
        <dsp:cNvPr id="0" name=""/>
        <dsp:cNvSpPr/>
      </dsp:nvSpPr>
      <dsp:spPr>
        <a:xfrm>
          <a:off x="486142" y="1086356"/>
          <a:ext cx="883895" cy="8838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7EDC911-A0E2-4BA5-8BB2-EAB386C90977}">
      <dsp:nvSpPr>
        <dsp:cNvPr id="0" name=""/>
        <dsp:cNvSpPr/>
      </dsp:nvSpPr>
      <dsp:spPr>
        <a:xfrm>
          <a:off x="1856180" y="724762"/>
          <a:ext cx="5571285" cy="1607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083" tIns="170083" rIns="170083" bIns="170083" numCol="1" spcCol="1270" anchor="ctr" anchorCtr="0">
          <a:noAutofit/>
        </a:bodyPr>
        <a:lstStyle/>
        <a:p>
          <a:pPr marL="0" lvl="0" indent="0" algn="l" defTabSz="889000">
            <a:lnSpc>
              <a:spcPct val="100000"/>
            </a:lnSpc>
            <a:spcBef>
              <a:spcPct val="0"/>
            </a:spcBef>
            <a:spcAft>
              <a:spcPct val="35000"/>
            </a:spcAft>
            <a:buNone/>
          </a:pPr>
          <a:r>
            <a:rPr lang="en-US" sz="2000" kern="1200" dirty="0"/>
            <a:t>Build the dashboard using </a:t>
          </a:r>
          <a:r>
            <a:rPr lang="en-US" sz="2000" kern="1200" dirty="0" err="1"/>
            <a:t>Plotly</a:t>
          </a:r>
          <a:r>
            <a:rPr lang="en-US" sz="2000" kern="1200" dirty="0"/>
            <a:t> dash</a:t>
          </a:r>
        </a:p>
      </dsp:txBody>
      <dsp:txXfrm>
        <a:off x="1856180" y="724762"/>
        <a:ext cx="5571285" cy="1607082"/>
      </dsp:txXfrm>
    </dsp:sp>
    <dsp:sp modelId="{B7AB8101-2560-40FF-847F-7A917F677775}">
      <dsp:nvSpPr>
        <dsp:cNvPr id="0" name=""/>
        <dsp:cNvSpPr/>
      </dsp:nvSpPr>
      <dsp:spPr>
        <a:xfrm>
          <a:off x="0" y="2731759"/>
          <a:ext cx="7427466" cy="16070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2D6301-68B4-4F20-A198-B29CF024324E}">
      <dsp:nvSpPr>
        <dsp:cNvPr id="0" name=""/>
        <dsp:cNvSpPr/>
      </dsp:nvSpPr>
      <dsp:spPr>
        <a:xfrm>
          <a:off x="486142" y="3071576"/>
          <a:ext cx="883895" cy="8838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AF29E1-7B7D-4206-8DC2-02545A1C53A2}">
      <dsp:nvSpPr>
        <dsp:cNvPr id="0" name=""/>
        <dsp:cNvSpPr/>
      </dsp:nvSpPr>
      <dsp:spPr>
        <a:xfrm>
          <a:off x="1856180" y="2709983"/>
          <a:ext cx="5571285" cy="1607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083" tIns="170083" rIns="170083" bIns="170083" numCol="1" spcCol="1270" anchor="ctr" anchorCtr="0">
          <a:noAutofit/>
        </a:bodyPr>
        <a:lstStyle/>
        <a:p>
          <a:pPr marL="0" lvl="0" indent="0" algn="l" defTabSz="889000">
            <a:lnSpc>
              <a:spcPct val="100000"/>
            </a:lnSpc>
            <a:spcBef>
              <a:spcPct val="0"/>
            </a:spcBef>
            <a:spcAft>
              <a:spcPct val="35000"/>
            </a:spcAft>
            <a:buNone/>
          </a:pPr>
          <a:r>
            <a:rPr lang="en-US" sz="2000" kern="1200" dirty="0"/>
            <a:t>We build a dashboard to analyze stocks. Dash is a python framework that provides an abstraction over flask and </a:t>
          </a:r>
          <a:r>
            <a:rPr lang="en-US" sz="2000" kern="1200" dirty="0" err="1"/>
            <a:t>react.js</a:t>
          </a:r>
          <a:r>
            <a:rPr lang="en-US" sz="2000" kern="1200" dirty="0"/>
            <a:t> to build analytical web applications</a:t>
          </a:r>
        </a:p>
      </dsp:txBody>
      <dsp:txXfrm>
        <a:off x="1856180" y="2709983"/>
        <a:ext cx="5571285" cy="160708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13F7A2-3F51-4E97-B542-5554E6E09496}" type="datetimeFigureOut">
              <a:rPr lang="en-US" smtClean="0"/>
              <a:t>10/23/2020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917CD-5E9D-4AC4-946B-A1F540902567}" type="slidenum">
              <a:rPr lang="en-US" smtClean="0"/>
              <a:t>‹#›</a:t>
            </a:fld>
            <a:endParaRPr lang="en-US"/>
          </a:p>
        </p:txBody>
      </p:sp>
    </p:spTree>
    <p:extLst>
      <p:ext uri="{BB962C8B-B14F-4D97-AF65-F5344CB8AC3E}">
        <p14:creationId xmlns:p14="http://schemas.microsoft.com/office/powerpoint/2010/main" val="2688506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has significant applications in the stock price prediction. In this machine learning project, we will be talking about predicting the returns on stocks. This is a very complex task and has uncertainties. We will develop this project into two parts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we will learn how to predict stock price using the LSTM neural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we will build a dashboard using </a:t>
            </a:r>
            <a:r>
              <a:rPr lang="en-US" dirty="0" err="1"/>
              <a:t>Plotly</a:t>
            </a:r>
            <a:r>
              <a:rPr lang="en-US" dirty="0"/>
              <a:t> dash for stock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b="0" i="0" dirty="0">
                <a:solidFill>
                  <a:srgbClr val="444444"/>
                </a:solidFill>
                <a:effectLst/>
                <a:latin typeface="Georgia" panose="02040502050405020303" pitchFamily="18" charset="0"/>
              </a:rPr>
              <a:t>Stock price prediction is a machine learning project -we learned how to develop a stock cost prediction model and how to build an interactive dashboard for stock analysis. We implemented stock market prediction using the LSTM model. OTOH, </a:t>
            </a:r>
            <a:r>
              <a:rPr lang="en-US" b="0" i="0" dirty="0" err="1">
                <a:solidFill>
                  <a:srgbClr val="444444"/>
                </a:solidFill>
                <a:effectLst/>
                <a:latin typeface="Georgia" panose="02040502050405020303" pitchFamily="18" charset="0"/>
              </a:rPr>
              <a:t>Plotly</a:t>
            </a:r>
            <a:r>
              <a:rPr lang="en-US" b="0" i="0" dirty="0">
                <a:solidFill>
                  <a:srgbClr val="444444"/>
                </a:solidFill>
                <a:effectLst/>
                <a:latin typeface="Georgia" panose="02040502050405020303" pitchFamily="18" charset="0"/>
              </a:rPr>
              <a:t> dash python framework for building dashboards.</a:t>
            </a:r>
            <a:endParaRPr lang="en-US" dirty="0"/>
          </a:p>
          <a:p>
            <a:endParaRPr lang="en-US" dirty="0"/>
          </a:p>
        </p:txBody>
      </p:sp>
      <p:sp>
        <p:nvSpPr>
          <p:cNvPr id="4" name="Slide Number Placeholder 3"/>
          <p:cNvSpPr>
            <a:spLocks noGrp="1"/>
          </p:cNvSpPr>
          <p:nvPr>
            <p:ph type="sldNum" sz="quarter" idx="5"/>
          </p:nvPr>
        </p:nvSpPr>
        <p:spPr/>
        <p:txBody>
          <a:bodyPr/>
          <a:lstStyle/>
          <a:p>
            <a:fld id="{E8B917CD-5E9D-4AC4-946B-A1F540902567}" type="slidenum">
              <a:rPr lang="en-US" smtClean="0"/>
              <a:t>2</a:t>
            </a:fld>
            <a:endParaRPr lang="en-US"/>
          </a:p>
        </p:txBody>
      </p:sp>
    </p:spTree>
    <p:extLst>
      <p:ext uri="{BB962C8B-B14F-4D97-AF65-F5344CB8AC3E}">
        <p14:creationId xmlns:p14="http://schemas.microsoft.com/office/powerpoint/2010/main" val="3639673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effectLst/>
                <a:latin typeface="Slack-Lato"/>
              </a:rPr>
              <a:t>LSTM networks are a type of recurrent neural network capable of learning order dependence in sequence prediction problems</a:t>
            </a:r>
          </a:p>
          <a:p>
            <a:endParaRPr lang="en-US" dirty="0"/>
          </a:p>
        </p:txBody>
      </p:sp>
      <p:sp>
        <p:nvSpPr>
          <p:cNvPr id="4" name="Slide Number Placeholder 3"/>
          <p:cNvSpPr>
            <a:spLocks noGrp="1"/>
          </p:cNvSpPr>
          <p:nvPr>
            <p:ph type="sldNum" sz="quarter" idx="5"/>
          </p:nvPr>
        </p:nvSpPr>
        <p:spPr/>
        <p:txBody>
          <a:bodyPr/>
          <a:lstStyle/>
          <a:p>
            <a:fld id="{E8B917CD-5E9D-4AC4-946B-A1F540902567}" type="slidenum">
              <a:rPr lang="en-US" smtClean="0"/>
              <a:t>3</a:t>
            </a:fld>
            <a:endParaRPr lang="en-US"/>
          </a:p>
        </p:txBody>
      </p:sp>
    </p:spTree>
    <p:extLst>
      <p:ext uri="{BB962C8B-B14F-4D97-AF65-F5344CB8AC3E}">
        <p14:creationId xmlns:p14="http://schemas.microsoft.com/office/powerpoint/2010/main" val="3323305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E94C53-59C4-4BCE-8B6F-977541025412}" type="datetimeFigureOut">
              <a:rPr lang="en-US" smtClean="0"/>
              <a:t>10/23/2020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BEED9-F867-4D72-8A2A-A6163F39BA29}" type="slidenum">
              <a:rPr lang="en-US" smtClean="0"/>
              <a:t>‹#›</a:t>
            </a:fld>
            <a:endParaRPr lang="en-US"/>
          </a:p>
        </p:txBody>
      </p:sp>
    </p:spTree>
    <p:extLst>
      <p:ext uri="{BB962C8B-B14F-4D97-AF65-F5344CB8AC3E}">
        <p14:creationId xmlns:p14="http://schemas.microsoft.com/office/powerpoint/2010/main" val="1446034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E94C53-59C4-4BCE-8B6F-977541025412}" type="datetimeFigureOut">
              <a:rPr lang="en-US" smtClean="0"/>
              <a:t>10/23/2020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BEED9-F867-4D72-8A2A-A6163F39BA29}" type="slidenum">
              <a:rPr lang="en-US" smtClean="0"/>
              <a:t>‹#›</a:t>
            </a:fld>
            <a:endParaRPr lang="en-US"/>
          </a:p>
        </p:txBody>
      </p:sp>
    </p:spTree>
    <p:extLst>
      <p:ext uri="{BB962C8B-B14F-4D97-AF65-F5344CB8AC3E}">
        <p14:creationId xmlns:p14="http://schemas.microsoft.com/office/powerpoint/2010/main" val="4202031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E94C53-59C4-4BCE-8B6F-977541025412}" type="datetimeFigureOut">
              <a:rPr lang="en-US" smtClean="0"/>
              <a:t>10/23/2020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EBEED9-F867-4D72-8A2A-A6163F39BA29}" type="slidenum">
              <a:rPr lang="en-US" smtClean="0"/>
              <a:t>‹#›</a:t>
            </a:fld>
            <a:endParaRPr lang="en-US"/>
          </a:p>
        </p:txBody>
      </p:sp>
    </p:spTree>
    <p:extLst>
      <p:ext uri="{BB962C8B-B14F-4D97-AF65-F5344CB8AC3E}">
        <p14:creationId xmlns:p14="http://schemas.microsoft.com/office/powerpoint/2010/main" val="403123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D8E94C53-59C4-4BCE-8B6F-977541025412}" type="datetimeFigureOut">
              <a:rPr lang="en-US" smtClean="0"/>
              <a:t>10/23/2020</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7BEBEED9-F867-4D72-8A2A-A6163F39BA29}" type="slidenum">
              <a:rPr lang="en-US" smtClean="0"/>
              <a:t>‹#›</a:t>
            </a:fld>
            <a:endParaRPr lang="en-US"/>
          </a:p>
        </p:txBody>
      </p:sp>
    </p:spTree>
    <p:extLst>
      <p:ext uri="{BB962C8B-B14F-4D97-AF65-F5344CB8AC3E}">
        <p14:creationId xmlns:p14="http://schemas.microsoft.com/office/powerpoint/2010/main" val="20209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D8E94C53-59C4-4BCE-8B6F-977541025412}" type="datetimeFigureOut">
              <a:rPr lang="en-US" smtClean="0"/>
              <a:t>10/23/2020</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7BEBEED9-F867-4D72-8A2A-A6163F39BA29}" type="slidenum">
              <a:rPr lang="en-US" smtClean="0"/>
              <a:t>‹#›</a:t>
            </a:fld>
            <a:endParaRPr lang="en-US"/>
          </a:p>
        </p:txBody>
      </p:sp>
    </p:spTree>
    <p:extLst>
      <p:ext uri="{BB962C8B-B14F-4D97-AF65-F5344CB8AC3E}">
        <p14:creationId xmlns:p14="http://schemas.microsoft.com/office/powerpoint/2010/main" val="470872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D8E94C53-59C4-4BCE-8B6F-977541025412}" type="datetimeFigureOut">
              <a:rPr lang="en-US" smtClean="0"/>
              <a:t>10/23/2020</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7BEBEED9-F867-4D72-8A2A-A6163F39BA29}" type="slidenum">
              <a:rPr lang="en-US" smtClean="0"/>
              <a:t>‹#›</a:t>
            </a:fld>
            <a:endParaRPr lang="en-US"/>
          </a:p>
        </p:txBody>
      </p:sp>
    </p:spTree>
    <p:extLst>
      <p:ext uri="{BB962C8B-B14F-4D97-AF65-F5344CB8AC3E}">
        <p14:creationId xmlns:p14="http://schemas.microsoft.com/office/powerpoint/2010/main" val="927712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8E94C53-59C4-4BCE-8B6F-977541025412}" type="datetimeFigureOut">
              <a:rPr lang="en-US" smtClean="0"/>
              <a:t>10/23/2020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EBEED9-F867-4D72-8A2A-A6163F39BA29}" type="slidenum">
              <a:rPr lang="en-US" smtClean="0"/>
              <a:t>‹#›</a:t>
            </a:fld>
            <a:endParaRPr lang="en-US"/>
          </a:p>
        </p:txBody>
      </p:sp>
    </p:spTree>
    <p:extLst>
      <p:ext uri="{BB962C8B-B14F-4D97-AF65-F5344CB8AC3E}">
        <p14:creationId xmlns:p14="http://schemas.microsoft.com/office/powerpoint/2010/main" val="2949265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D8E94C53-59C4-4BCE-8B6F-977541025412}" type="datetimeFigureOut">
              <a:rPr lang="en-US" smtClean="0"/>
              <a:t>10/23/2020</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7BEBEED9-F867-4D72-8A2A-A6163F39BA29}" type="slidenum">
              <a:rPr lang="en-US" smtClean="0"/>
              <a:t>‹#›</a:t>
            </a:fld>
            <a:endParaRPr lang="en-US"/>
          </a:p>
        </p:txBody>
      </p:sp>
    </p:spTree>
    <p:extLst>
      <p:ext uri="{BB962C8B-B14F-4D97-AF65-F5344CB8AC3E}">
        <p14:creationId xmlns:p14="http://schemas.microsoft.com/office/powerpoint/2010/main" val="2246264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D8E94C53-59C4-4BCE-8B6F-977541025412}" type="datetimeFigureOut">
              <a:rPr lang="en-US" smtClean="0"/>
              <a:t>10/23/2020</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7BEBEED9-F867-4D72-8A2A-A6163F39BA29}" type="slidenum">
              <a:rPr lang="en-US" smtClean="0"/>
              <a:t>‹#›</a:t>
            </a:fld>
            <a:endParaRPr lang="en-US"/>
          </a:p>
        </p:txBody>
      </p:sp>
    </p:spTree>
    <p:extLst>
      <p:ext uri="{BB962C8B-B14F-4D97-AF65-F5344CB8AC3E}">
        <p14:creationId xmlns:p14="http://schemas.microsoft.com/office/powerpoint/2010/main" val="1503494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94C53-59C4-4BCE-8B6F-977541025412}" type="datetimeFigureOut">
              <a:rPr lang="en-US" smtClean="0"/>
              <a:t>10/23/2020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EBEED9-F867-4D72-8A2A-A6163F39BA29}" type="slidenum">
              <a:rPr lang="en-US" smtClean="0"/>
              <a:t>‹#›</a:t>
            </a:fld>
            <a:endParaRPr lang="en-US"/>
          </a:p>
        </p:txBody>
      </p:sp>
    </p:spTree>
    <p:extLst>
      <p:ext uri="{BB962C8B-B14F-4D97-AF65-F5344CB8AC3E}">
        <p14:creationId xmlns:p14="http://schemas.microsoft.com/office/powerpoint/2010/main" val="2740034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E94C53-59C4-4BCE-8B6F-977541025412}" type="datetimeFigureOut">
              <a:rPr lang="en-US" smtClean="0"/>
              <a:t>10/23/2020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EBEED9-F867-4D72-8A2A-A6163F39BA29}" type="slidenum">
              <a:rPr lang="en-US" smtClean="0"/>
              <a:t>‹#›</a:t>
            </a:fld>
            <a:endParaRPr lang="en-US"/>
          </a:p>
        </p:txBody>
      </p:sp>
    </p:spTree>
    <p:extLst>
      <p:ext uri="{BB962C8B-B14F-4D97-AF65-F5344CB8AC3E}">
        <p14:creationId xmlns:p14="http://schemas.microsoft.com/office/powerpoint/2010/main" val="1268679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D8E94C53-59C4-4BCE-8B6F-977541025412}" type="datetimeFigureOut">
              <a:rPr lang="en-US" smtClean="0"/>
              <a:t>10/23/2020</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7BEBEED9-F867-4D72-8A2A-A6163F39BA29}" type="slidenum">
              <a:rPr lang="en-US" smtClean="0"/>
              <a:t>‹#›</a:t>
            </a:fld>
            <a:endParaRPr lang="en-US"/>
          </a:p>
        </p:txBody>
      </p:sp>
    </p:spTree>
    <p:extLst>
      <p:ext uri="{BB962C8B-B14F-4D97-AF65-F5344CB8AC3E}">
        <p14:creationId xmlns:p14="http://schemas.microsoft.com/office/powerpoint/2010/main" val="14056811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18">
            <a:extLst>
              <a:ext uri="{FF2B5EF4-FFF2-40B4-BE49-F238E27FC236}">
                <a16:creationId xmlns:a16="http://schemas.microsoft.com/office/drawing/2014/main" id="{07CBBDD0-4420-4A50-96AB-392F9B97C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0">
            <a:extLst>
              <a:ext uri="{FF2B5EF4-FFF2-40B4-BE49-F238E27FC236}">
                <a16:creationId xmlns:a16="http://schemas.microsoft.com/office/drawing/2014/main" id="{465BA403-54B9-4A0B-BC79-028C495C0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7" y="761999"/>
            <a:ext cx="7552943"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6A1EC047-DB75-BC4C-BEB4-A50611C53062}"/>
              </a:ext>
            </a:extLst>
          </p:cNvPr>
          <p:cNvSpPr>
            <a:spLocks noGrp="1"/>
          </p:cNvSpPr>
          <p:nvPr>
            <p:ph type="ctrTitle"/>
          </p:nvPr>
        </p:nvSpPr>
        <p:spPr>
          <a:xfrm>
            <a:off x="5054082" y="1298448"/>
            <a:ext cx="6068070" cy="3255264"/>
          </a:xfrm>
        </p:spPr>
        <p:txBody>
          <a:bodyPr>
            <a:normAutofit/>
          </a:bodyPr>
          <a:lstStyle/>
          <a:p>
            <a:r>
              <a:rPr lang="en-US" sz="5000" dirty="0"/>
              <a:t>Stock Price Prediction – Machine Learning Project in Python</a:t>
            </a:r>
            <a:br>
              <a:rPr lang="en-US" sz="5000" dirty="0"/>
            </a:br>
            <a:endParaRPr lang="en-US" sz="5000" dirty="0"/>
          </a:p>
        </p:txBody>
      </p:sp>
      <p:sp>
        <p:nvSpPr>
          <p:cNvPr id="3" name="Subtitle 2">
            <a:extLst>
              <a:ext uri="{FF2B5EF4-FFF2-40B4-BE49-F238E27FC236}">
                <a16:creationId xmlns:a16="http://schemas.microsoft.com/office/drawing/2014/main" id="{7CF2DB0A-59F7-7B4C-809E-BBE21FDCB74C}"/>
              </a:ext>
            </a:extLst>
          </p:cNvPr>
          <p:cNvSpPr>
            <a:spLocks noGrp="1"/>
          </p:cNvSpPr>
          <p:nvPr>
            <p:ph type="subTitle" idx="1"/>
          </p:nvPr>
        </p:nvSpPr>
        <p:spPr>
          <a:xfrm>
            <a:off x="5389686" y="4632961"/>
            <a:ext cx="6037903" cy="914400"/>
          </a:xfrm>
        </p:spPr>
        <p:txBody>
          <a:bodyPr>
            <a:normAutofit/>
          </a:bodyPr>
          <a:lstStyle/>
          <a:p>
            <a:r>
              <a:rPr lang="en-US" dirty="0"/>
              <a:t>Gabriella Yuan &amp; Roslyn Payne</a:t>
            </a:r>
          </a:p>
        </p:txBody>
      </p:sp>
      <p:sp>
        <p:nvSpPr>
          <p:cNvPr id="23" name="Rectangle 22">
            <a:extLst>
              <a:ext uri="{FF2B5EF4-FFF2-40B4-BE49-F238E27FC236}">
                <a16:creationId xmlns:a16="http://schemas.microsoft.com/office/drawing/2014/main" id="{DC8C6883-513A-4FE8-8B55-7AA2A13A9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Graphic 6" descr="Robot">
            <a:extLst>
              <a:ext uri="{FF2B5EF4-FFF2-40B4-BE49-F238E27FC236}">
                <a16:creationId xmlns:a16="http://schemas.microsoft.com/office/drawing/2014/main" id="{5F69AB37-2925-4233-8407-8F66962A27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70596" y="3011060"/>
            <a:ext cx="2917687" cy="2917687"/>
          </a:xfrm>
          <a:prstGeom prst="rect">
            <a:avLst/>
          </a:prstGeom>
        </p:spPr>
      </p:pic>
      <p:pic>
        <p:nvPicPr>
          <p:cNvPr id="1026" name="Picture 2" descr="THE A.I. GOLD-MINE: PREDICTING STOCK MARKET SUCCESS | by RE•WORK | Above  Intelligent™ AI/ML News Publication">
            <a:extLst>
              <a:ext uri="{FF2B5EF4-FFF2-40B4-BE49-F238E27FC236}">
                <a16:creationId xmlns:a16="http://schemas.microsoft.com/office/drawing/2014/main" id="{B79CB996-B3BC-584A-8E49-F35343872D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204" y="727254"/>
            <a:ext cx="4546312" cy="5371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9926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5FB2F-3109-9E42-BC86-9BE9F7D28B8F}"/>
              </a:ext>
            </a:extLst>
          </p:cNvPr>
          <p:cNvSpPr>
            <a:spLocks noGrp="1"/>
          </p:cNvSpPr>
          <p:nvPr>
            <p:ph type="title"/>
          </p:nvPr>
        </p:nvSpPr>
        <p:spPr>
          <a:xfrm>
            <a:off x="252919" y="1123837"/>
            <a:ext cx="2947482" cy="4601183"/>
          </a:xfrm>
        </p:spPr>
        <p:txBody>
          <a:bodyPr>
            <a:normAutofit/>
          </a:bodyPr>
          <a:lstStyle/>
          <a:p>
            <a:r>
              <a:rPr lang="en-US" sz="5400" dirty="0"/>
              <a:t>Project Overview </a:t>
            </a:r>
          </a:p>
        </p:txBody>
      </p:sp>
      <p:sp>
        <p:nvSpPr>
          <p:cNvPr id="3" name="Content Placeholder 2">
            <a:extLst>
              <a:ext uri="{FF2B5EF4-FFF2-40B4-BE49-F238E27FC236}">
                <a16:creationId xmlns:a16="http://schemas.microsoft.com/office/drawing/2014/main" id="{27E65FC3-3A24-9F45-B2C2-3687A46CE104}"/>
              </a:ext>
            </a:extLst>
          </p:cNvPr>
          <p:cNvSpPr>
            <a:spLocks noGrp="1"/>
          </p:cNvSpPr>
          <p:nvPr>
            <p:ph idx="1"/>
          </p:nvPr>
        </p:nvSpPr>
        <p:spPr>
          <a:xfrm>
            <a:off x="3869267" y="864108"/>
            <a:ext cx="4861075" cy="5120640"/>
          </a:xfrm>
        </p:spPr>
        <p:txBody>
          <a:bodyPr>
            <a:normAutofit/>
          </a:bodyPr>
          <a:lstStyle/>
          <a:p>
            <a:pPr fontAlgn="base"/>
            <a:r>
              <a:rPr lang="en-US" dirty="0"/>
              <a:t>Stock price prediction</a:t>
            </a:r>
          </a:p>
          <a:p>
            <a:pPr fontAlgn="base"/>
            <a:endParaRPr lang="en-US" dirty="0"/>
          </a:p>
          <a:p>
            <a:pPr fontAlgn="base"/>
            <a:r>
              <a:rPr lang="en-US" dirty="0"/>
              <a:t>LSTM neural network</a:t>
            </a:r>
          </a:p>
          <a:p>
            <a:pPr marL="0" indent="0" fontAlgn="base">
              <a:buNone/>
            </a:pPr>
            <a:endParaRPr lang="en-US" dirty="0"/>
          </a:p>
          <a:p>
            <a:pPr fontAlgn="base"/>
            <a:r>
              <a:rPr lang="en-US" dirty="0" err="1"/>
              <a:t>Plotly</a:t>
            </a:r>
            <a:r>
              <a:rPr lang="en-US" dirty="0"/>
              <a:t> dash for stock analysis</a:t>
            </a:r>
          </a:p>
          <a:p>
            <a:pPr marL="0" indent="0">
              <a:buNone/>
            </a:pPr>
            <a:endParaRPr lang="en-US" dirty="0"/>
          </a:p>
        </p:txBody>
      </p:sp>
      <p:pic>
        <p:nvPicPr>
          <p:cNvPr id="16" name="Graphic 6" descr="Statistics">
            <a:extLst>
              <a:ext uri="{FF2B5EF4-FFF2-40B4-BE49-F238E27FC236}">
                <a16:creationId xmlns:a16="http://schemas.microsoft.com/office/drawing/2014/main" id="{ABED642A-B277-4CB6-BA88-FE4A54F809C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30342" y="1820962"/>
            <a:ext cx="2867297" cy="3206931"/>
          </a:xfrm>
          <a:prstGeom prst="rect">
            <a:avLst/>
          </a:prstGeom>
        </p:spPr>
      </p:pic>
    </p:spTree>
    <p:extLst>
      <p:ext uri="{BB962C8B-B14F-4D97-AF65-F5344CB8AC3E}">
        <p14:creationId xmlns:p14="http://schemas.microsoft.com/office/powerpoint/2010/main" val="2660083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CA310-0F6C-4C36-B456-9690094A6516}"/>
              </a:ext>
            </a:extLst>
          </p:cNvPr>
          <p:cNvSpPr>
            <a:spLocks noGrp="1"/>
          </p:cNvSpPr>
          <p:nvPr>
            <p:ph type="title"/>
          </p:nvPr>
        </p:nvSpPr>
        <p:spPr>
          <a:xfrm>
            <a:off x="252919" y="1123837"/>
            <a:ext cx="2947482" cy="4601183"/>
          </a:xfrm>
        </p:spPr>
        <p:txBody>
          <a:bodyPr>
            <a:normAutofit/>
          </a:bodyPr>
          <a:lstStyle/>
          <a:p>
            <a:r>
              <a:rPr lang="en-US" sz="7200" dirty="0"/>
              <a:t>LSTM </a:t>
            </a:r>
          </a:p>
        </p:txBody>
      </p:sp>
      <p:sp>
        <p:nvSpPr>
          <p:cNvPr id="3" name="Content Placeholder 2">
            <a:extLst>
              <a:ext uri="{FF2B5EF4-FFF2-40B4-BE49-F238E27FC236}">
                <a16:creationId xmlns:a16="http://schemas.microsoft.com/office/drawing/2014/main" id="{62FEA123-C369-4A76-A461-70884A228B52}"/>
              </a:ext>
            </a:extLst>
          </p:cNvPr>
          <p:cNvSpPr>
            <a:spLocks noGrp="1"/>
          </p:cNvSpPr>
          <p:nvPr>
            <p:ph idx="1"/>
          </p:nvPr>
        </p:nvSpPr>
        <p:spPr>
          <a:xfrm>
            <a:off x="3869267" y="653143"/>
            <a:ext cx="5122334" cy="5331605"/>
          </a:xfrm>
        </p:spPr>
        <p:txBody>
          <a:bodyPr>
            <a:normAutofit/>
          </a:bodyPr>
          <a:lstStyle/>
          <a:p>
            <a:r>
              <a:rPr lang="en-US" b="0" i="0" dirty="0">
                <a:effectLst/>
                <a:latin typeface="Slack-Lato"/>
              </a:rPr>
              <a:t>Long Short-Term Memory networks –LSTMs </a:t>
            </a:r>
          </a:p>
          <a:p>
            <a:r>
              <a:rPr lang="en-US" b="0" i="0" dirty="0">
                <a:effectLst/>
                <a:latin typeface="Slack-Lato"/>
              </a:rPr>
              <a:t>LSTM type of recurrent neural network</a:t>
            </a:r>
          </a:p>
          <a:p>
            <a:r>
              <a:rPr lang="en-US" b="0" i="0" dirty="0">
                <a:effectLst/>
                <a:latin typeface="Slack-Lato"/>
              </a:rPr>
              <a:t>LSTMs avoid the long-term dependency problem</a:t>
            </a:r>
          </a:p>
          <a:p>
            <a:r>
              <a:rPr lang="en-US" dirty="0">
                <a:latin typeface="Slack-Lato"/>
              </a:rPr>
              <a:t>C</a:t>
            </a:r>
            <a:r>
              <a:rPr lang="en-US" b="0" i="0" dirty="0">
                <a:effectLst/>
                <a:latin typeface="Slack-Lato"/>
              </a:rPr>
              <a:t>hain like structure</a:t>
            </a:r>
          </a:p>
          <a:p>
            <a:r>
              <a:rPr lang="en-US" dirty="0">
                <a:latin typeface="Slack-Lato"/>
              </a:rPr>
              <a:t>R</a:t>
            </a:r>
            <a:r>
              <a:rPr lang="en-US" b="0" i="0" dirty="0">
                <a:effectLst/>
                <a:latin typeface="Slack-Lato"/>
              </a:rPr>
              <a:t>epeating module</a:t>
            </a:r>
            <a:endParaRPr lang="en-US" dirty="0"/>
          </a:p>
        </p:txBody>
      </p:sp>
      <p:pic>
        <p:nvPicPr>
          <p:cNvPr id="7" name="Graphic 6" descr="Connections">
            <a:extLst>
              <a:ext uri="{FF2B5EF4-FFF2-40B4-BE49-F238E27FC236}">
                <a16:creationId xmlns:a16="http://schemas.microsoft.com/office/drawing/2014/main" id="{227D02E7-85F3-475A-9973-E675AEC4E49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72525" y="1691640"/>
            <a:ext cx="2520315" cy="3108960"/>
          </a:xfrm>
          <a:prstGeom prst="rect">
            <a:avLst/>
          </a:prstGeom>
        </p:spPr>
      </p:pic>
    </p:spTree>
    <p:extLst>
      <p:ext uri="{BB962C8B-B14F-4D97-AF65-F5344CB8AC3E}">
        <p14:creationId xmlns:p14="http://schemas.microsoft.com/office/powerpoint/2010/main" val="4126696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875682-0790-427D-9A23-4B7265F0FA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3">
            <a:extLst>
              <a:ext uri="{FF2B5EF4-FFF2-40B4-BE49-F238E27FC236}">
                <a16:creationId xmlns:a16="http://schemas.microsoft.com/office/drawing/2014/main" id="{6EDE4AAE-4785-4EA7-95DB-45200F5B80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20" name="Rectangle 15">
            <a:extLst>
              <a:ext uri="{FF2B5EF4-FFF2-40B4-BE49-F238E27FC236}">
                <a16:creationId xmlns:a16="http://schemas.microsoft.com/office/drawing/2014/main" id="{EB8AA617-0537-4ED7-91B6-66511A6475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2E8BF1F-CE61-45C5-92AC-552D23176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E8274956-CAA6-4B4E-BF58-36EFB4E85670}"/>
              </a:ext>
            </a:extLst>
          </p:cNvPr>
          <p:cNvSpPr>
            <a:spLocks noGrp="1"/>
          </p:cNvSpPr>
          <p:nvPr>
            <p:ph type="title"/>
          </p:nvPr>
        </p:nvSpPr>
        <p:spPr>
          <a:xfrm>
            <a:off x="1069848" y="4590661"/>
            <a:ext cx="10210862" cy="1065690"/>
          </a:xfrm>
        </p:spPr>
        <p:txBody>
          <a:bodyPr vert="horz" lIns="91440" tIns="45720" rIns="91440" bIns="45720" rtlCol="0" anchor="b">
            <a:normAutofit/>
          </a:bodyPr>
          <a:lstStyle/>
          <a:p>
            <a:r>
              <a:rPr lang="en-US" sz="5900" spc="-100" dirty="0"/>
              <a:t>Stock Price Prediction with LSTM </a:t>
            </a:r>
          </a:p>
        </p:txBody>
      </p:sp>
      <p:pic>
        <p:nvPicPr>
          <p:cNvPr id="5" name="Content Placeholder 4" descr="Graphical user interface, chart, scatter chart&#10;&#10;Description automatically generated">
            <a:extLst>
              <a:ext uri="{FF2B5EF4-FFF2-40B4-BE49-F238E27FC236}">
                <a16:creationId xmlns:a16="http://schemas.microsoft.com/office/drawing/2014/main" id="{7B3BB15E-D282-EB4C-825C-70F8C4DAE3F6}"/>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274" r="9868" b="1"/>
          <a:stretch/>
        </p:blipFill>
        <p:spPr>
          <a:xfrm>
            <a:off x="447182" y="454326"/>
            <a:ext cx="5648817" cy="3837316"/>
          </a:xfrm>
          <a:prstGeom prst="rect">
            <a:avLst/>
          </a:prstGeom>
        </p:spPr>
      </p:pic>
      <p:pic>
        <p:nvPicPr>
          <p:cNvPr id="7" name="Picture 6" descr="Chart, line chart&#10;&#10;Description automatically generated">
            <a:extLst>
              <a:ext uri="{FF2B5EF4-FFF2-40B4-BE49-F238E27FC236}">
                <a16:creationId xmlns:a16="http://schemas.microsoft.com/office/drawing/2014/main" id="{30EA978F-561C-1042-8181-5D82EA5A9D9E}"/>
              </a:ext>
            </a:extLst>
          </p:cNvPr>
          <p:cNvPicPr>
            <a:picLocks noChangeAspect="1"/>
          </p:cNvPicPr>
          <p:nvPr/>
        </p:nvPicPr>
        <p:blipFill rotWithShape="1">
          <a:blip r:embed="rId3">
            <a:extLst>
              <a:ext uri="{28A0092B-C50C-407E-A947-70E740481C1C}">
                <a14:useLocalDpi xmlns:a14="http://schemas.microsoft.com/office/drawing/2010/main" val="0"/>
              </a:ext>
            </a:extLst>
          </a:blip>
          <a:srcRect l="25727" r="14649" b="-1"/>
          <a:stretch/>
        </p:blipFill>
        <p:spPr>
          <a:xfrm>
            <a:off x="6284235" y="470174"/>
            <a:ext cx="5418867" cy="3680838"/>
          </a:xfrm>
          <a:prstGeom prst="rect">
            <a:avLst/>
          </a:prstGeom>
        </p:spPr>
      </p:pic>
    </p:spTree>
    <p:extLst>
      <p:ext uri="{BB962C8B-B14F-4D97-AF65-F5344CB8AC3E}">
        <p14:creationId xmlns:p14="http://schemas.microsoft.com/office/powerpoint/2010/main" val="344661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AAD8036-96D8-496C-8006-37ACA5AD86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4A4CBA9-3463-4C65-BF46-6B6C50E7F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42856" y="757325"/>
            <a:ext cx="3549144"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B6DC56-620E-C84A-BB26-F841BFDE58AC}"/>
              </a:ext>
            </a:extLst>
          </p:cNvPr>
          <p:cNvSpPr>
            <a:spLocks noGrp="1"/>
          </p:cNvSpPr>
          <p:nvPr>
            <p:ph type="title"/>
          </p:nvPr>
        </p:nvSpPr>
        <p:spPr>
          <a:xfrm>
            <a:off x="8895775" y="1123837"/>
            <a:ext cx="2947482" cy="4601183"/>
          </a:xfrm>
        </p:spPr>
        <p:txBody>
          <a:bodyPr>
            <a:normAutofit/>
          </a:bodyPr>
          <a:lstStyle/>
          <a:p>
            <a:r>
              <a:rPr lang="en-US" sz="7200" dirty="0" err="1"/>
              <a:t>Plotly</a:t>
            </a:r>
            <a:endParaRPr lang="en-US" sz="7200" dirty="0"/>
          </a:p>
        </p:txBody>
      </p:sp>
      <p:sp>
        <p:nvSpPr>
          <p:cNvPr id="13" name="Rectangle 12">
            <a:extLst>
              <a:ext uri="{FF2B5EF4-FFF2-40B4-BE49-F238E27FC236}">
                <a16:creationId xmlns:a16="http://schemas.microsoft.com/office/drawing/2014/main" id="{2DCEED6C-D39C-40AA-B89E-52C3FA5A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5" name="Content Placeholder 2">
            <a:extLst>
              <a:ext uri="{FF2B5EF4-FFF2-40B4-BE49-F238E27FC236}">
                <a16:creationId xmlns:a16="http://schemas.microsoft.com/office/drawing/2014/main" id="{CD58FB91-0179-481D-BCCA-574F20DE278C}"/>
              </a:ext>
            </a:extLst>
          </p:cNvPr>
          <p:cNvGraphicFramePr>
            <a:graphicFrameLocks noGrp="1"/>
          </p:cNvGraphicFramePr>
          <p:nvPr>
            <p:ph idx="1"/>
            <p:extLst>
              <p:ext uri="{D42A27DB-BD31-4B8C-83A1-F6EECF244321}">
                <p14:modId xmlns:p14="http://schemas.microsoft.com/office/powerpoint/2010/main" val="2642371934"/>
              </p:ext>
            </p:extLst>
          </p:nvPr>
        </p:nvGraphicFramePr>
        <p:xfrm>
          <a:off x="866647" y="933854"/>
          <a:ext cx="7427466" cy="50418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0288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3875682-0790-427D-9A23-4B7265F0FA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a:extLst>
              <a:ext uri="{FF2B5EF4-FFF2-40B4-BE49-F238E27FC236}">
                <a16:creationId xmlns:a16="http://schemas.microsoft.com/office/drawing/2014/main" id="{6EDE4AAE-4785-4EA7-95DB-45200F5B80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27" name="Rectangle 26">
            <a:extLst>
              <a:ext uri="{FF2B5EF4-FFF2-40B4-BE49-F238E27FC236}">
                <a16:creationId xmlns:a16="http://schemas.microsoft.com/office/drawing/2014/main" id="{EB8AA617-0537-4ED7-91B6-66511A6475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C2E8BF1F-CE61-45C5-92AC-552D23176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85BFF33D-ABEC-C245-8A59-98EF1CBCC2B2}"/>
              </a:ext>
            </a:extLst>
          </p:cNvPr>
          <p:cNvSpPr>
            <a:spLocks noGrp="1"/>
          </p:cNvSpPr>
          <p:nvPr>
            <p:ph type="title"/>
          </p:nvPr>
        </p:nvSpPr>
        <p:spPr>
          <a:xfrm>
            <a:off x="1102436" y="4799436"/>
            <a:ext cx="10210862" cy="988591"/>
          </a:xfrm>
        </p:spPr>
        <p:txBody>
          <a:bodyPr vert="horz" lIns="91440" tIns="45720" rIns="91440" bIns="45720" rtlCol="0" anchor="b">
            <a:normAutofit/>
          </a:bodyPr>
          <a:lstStyle/>
          <a:p>
            <a:r>
              <a:rPr lang="en-US" sz="5900" spc="-100" dirty="0"/>
              <a:t>Past Stock Prices Analysis</a:t>
            </a:r>
          </a:p>
        </p:txBody>
      </p:sp>
      <p:pic>
        <p:nvPicPr>
          <p:cNvPr id="7" name="Picture 6" descr="Chart, timeline&#10;&#10;Description automatically generated">
            <a:extLst>
              <a:ext uri="{FF2B5EF4-FFF2-40B4-BE49-F238E27FC236}">
                <a16:creationId xmlns:a16="http://schemas.microsoft.com/office/drawing/2014/main" id="{03FF9661-EBAE-E542-8CB0-334C466CD6E9}"/>
              </a:ext>
            </a:extLst>
          </p:cNvPr>
          <p:cNvPicPr>
            <a:picLocks noChangeAspect="1"/>
          </p:cNvPicPr>
          <p:nvPr/>
        </p:nvPicPr>
        <p:blipFill rotWithShape="1">
          <a:blip r:embed="rId2">
            <a:extLst>
              <a:ext uri="{28A0092B-C50C-407E-A947-70E740481C1C}">
                <a14:useLocalDpi xmlns:a14="http://schemas.microsoft.com/office/drawing/2010/main" val="0"/>
              </a:ext>
            </a:extLst>
          </a:blip>
          <a:srcRect l="6125" r="16954"/>
          <a:stretch/>
        </p:blipFill>
        <p:spPr>
          <a:xfrm>
            <a:off x="6211447" y="506972"/>
            <a:ext cx="5495920" cy="4083689"/>
          </a:xfrm>
          <a:prstGeom prst="rect">
            <a:avLst/>
          </a:prstGeom>
        </p:spPr>
      </p:pic>
      <p:pic>
        <p:nvPicPr>
          <p:cNvPr id="11" name="Content Placeholder 10" descr="A picture containing graphical user interface&#10;&#10;Description automatically generated">
            <a:extLst>
              <a:ext uri="{FF2B5EF4-FFF2-40B4-BE49-F238E27FC236}">
                <a16:creationId xmlns:a16="http://schemas.microsoft.com/office/drawing/2014/main" id="{6ED9AA1D-B3D8-CD46-95AC-B34AD6A3E9A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444674"/>
            <a:ext cx="6207867" cy="4160788"/>
          </a:xfrm>
        </p:spPr>
      </p:pic>
    </p:spTree>
    <p:extLst>
      <p:ext uri="{BB962C8B-B14F-4D97-AF65-F5344CB8AC3E}">
        <p14:creationId xmlns:p14="http://schemas.microsoft.com/office/powerpoint/2010/main" val="513237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9662D-DF33-0346-B3D8-8982C7468862}"/>
              </a:ext>
            </a:extLst>
          </p:cNvPr>
          <p:cNvSpPr>
            <a:spLocks noGrp="1"/>
          </p:cNvSpPr>
          <p:nvPr>
            <p:ph type="title"/>
          </p:nvPr>
        </p:nvSpPr>
        <p:spPr/>
        <p:txBody>
          <a:bodyPr>
            <a:normAutofit/>
          </a:bodyPr>
          <a:lstStyle/>
          <a:p>
            <a:pPr algn="ctr"/>
            <a:r>
              <a:rPr lang="en-US" sz="5400" dirty="0"/>
              <a:t>Our </a:t>
            </a:r>
            <a:br>
              <a:rPr lang="en-US" sz="5400" dirty="0"/>
            </a:br>
            <a:r>
              <a:rPr lang="en-US" sz="5400" dirty="0"/>
              <a:t>Analysis </a:t>
            </a:r>
          </a:p>
        </p:txBody>
      </p:sp>
      <p:sp>
        <p:nvSpPr>
          <p:cNvPr id="3" name="Content Placeholder 2">
            <a:extLst>
              <a:ext uri="{FF2B5EF4-FFF2-40B4-BE49-F238E27FC236}">
                <a16:creationId xmlns:a16="http://schemas.microsoft.com/office/drawing/2014/main" id="{F6E90F51-9598-2A4D-94D1-981D8EF21362}"/>
              </a:ext>
            </a:extLst>
          </p:cNvPr>
          <p:cNvSpPr>
            <a:spLocks noGrp="1"/>
          </p:cNvSpPr>
          <p:nvPr>
            <p:ph idx="1"/>
          </p:nvPr>
        </p:nvSpPr>
        <p:spPr>
          <a:xfrm>
            <a:off x="3746728" y="762000"/>
            <a:ext cx="7426855" cy="5495925"/>
          </a:xfrm>
        </p:spPr>
        <p:txBody>
          <a:bodyPr>
            <a:normAutofit fontScale="85000" lnSpcReduction="10000"/>
          </a:bodyPr>
          <a:lstStyle/>
          <a:p>
            <a:r>
              <a:rPr lang="en-US" sz="2800" dirty="0"/>
              <a:t>Why did we pick the 4 stocks?  =  Technology stocks </a:t>
            </a:r>
          </a:p>
          <a:p>
            <a:pPr marL="0" indent="0">
              <a:buNone/>
            </a:pPr>
            <a:r>
              <a:rPr lang="en-US" dirty="0"/>
              <a:t>We analyzed the 4 stocks (Tesla, Microsoft, Facebook, Apple) from the period 1985 to 2020. We choose these 4 stocks because they are symbolic stocks representing some of the world’s  largest technology companies.</a:t>
            </a:r>
          </a:p>
          <a:p>
            <a:pPr marL="0" indent="0">
              <a:buNone/>
            </a:pPr>
            <a:r>
              <a:rPr lang="en-US" dirty="0"/>
              <a:t> As seen in the graph, from 1985 to 2020, technology is playing an important role in consumer lives.  The curves for all the stocks are flat. In the 2000s, Microsoft, Apple, Facebook, and Tesla were in the early adoption phases of consumer retail life cycle.  At this phase, most of the consumers were in the technology industry.  Therefore, we did not see a significant increase in sock prices. </a:t>
            </a:r>
          </a:p>
          <a:p>
            <a:pPr marL="0" indent="0">
              <a:buNone/>
            </a:pPr>
            <a:r>
              <a:rPr lang="en-US" dirty="0"/>
              <a:t>In 2010, computers become affordable to consumers due to the technology boom.  The use of smart phones and technology becomes an integrated part of consumers’ daily life. The technology stock prices increased significantly during this short period of time.   The stock increase symbolizes how technology transcended into mainstream and becomes a necessity in consumers’ daily life. We predicted there will be a steady increase on the stock price for 5-10 years between 2005 and 2015.  However, there will be a slower increase in price during 2015.  Most of the technology companies reached their peak after 10 years in business. </a:t>
            </a:r>
          </a:p>
          <a:p>
            <a:pPr marL="0" indent="0">
              <a:buNone/>
            </a:pPr>
            <a:r>
              <a:rPr lang="en-US" dirty="0"/>
              <a:t>After 5-10 years, new competition for these companies will evolve.  The stock market is unpredictable, so we will see a slower grow in price moving forward. The price will drop slightly and remain  relatively stable because these technology companies are mainstream.</a:t>
            </a:r>
          </a:p>
        </p:txBody>
      </p:sp>
    </p:spTree>
    <p:extLst>
      <p:ext uri="{BB962C8B-B14F-4D97-AF65-F5344CB8AC3E}">
        <p14:creationId xmlns:p14="http://schemas.microsoft.com/office/powerpoint/2010/main" val="3699523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A4C8A-992E-F44B-A258-C56D53202377}"/>
              </a:ext>
            </a:extLst>
          </p:cNvPr>
          <p:cNvSpPr>
            <a:spLocks noGrp="1"/>
          </p:cNvSpPr>
          <p:nvPr>
            <p:ph type="title"/>
          </p:nvPr>
        </p:nvSpPr>
        <p:spPr>
          <a:xfrm>
            <a:off x="259314" y="1283269"/>
            <a:ext cx="3230510" cy="3381488"/>
          </a:xfrm>
        </p:spPr>
        <p:txBody>
          <a:bodyPr/>
          <a:lstStyle/>
          <a:p>
            <a:r>
              <a:rPr lang="en-US" dirty="0"/>
              <a:t>Predicted result </a:t>
            </a:r>
            <a:br>
              <a:rPr lang="en-US" dirty="0"/>
            </a:br>
            <a:r>
              <a:rPr lang="en-US" dirty="0"/>
              <a:t>              vs </a:t>
            </a:r>
            <a:br>
              <a:rPr lang="en-US" dirty="0"/>
            </a:br>
            <a:r>
              <a:rPr lang="en-US" dirty="0"/>
              <a:t>Actual result </a:t>
            </a:r>
          </a:p>
        </p:txBody>
      </p:sp>
      <p:sp>
        <p:nvSpPr>
          <p:cNvPr id="3" name="Content Placeholder 2">
            <a:extLst>
              <a:ext uri="{FF2B5EF4-FFF2-40B4-BE49-F238E27FC236}">
                <a16:creationId xmlns:a16="http://schemas.microsoft.com/office/drawing/2014/main" id="{464831D4-2848-164C-889A-EF70BC4EEBA4}"/>
              </a:ext>
            </a:extLst>
          </p:cNvPr>
          <p:cNvSpPr>
            <a:spLocks noGrp="1"/>
          </p:cNvSpPr>
          <p:nvPr>
            <p:ph idx="1"/>
          </p:nvPr>
        </p:nvSpPr>
        <p:spPr>
          <a:xfrm>
            <a:off x="3739089" y="537536"/>
            <a:ext cx="7412568" cy="593217"/>
          </a:xfrm>
        </p:spPr>
        <p:txBody>
          <a:bodyPr>
            <a:normAutofit lnSpcReduction="10000"/>
          </a:bodyPr>
          <a:lstStyle/>
          <a:p>
            <a:r>
              <a:rPr lang="en-US" dirty="0"/>
              <a:t>Is our result accurate? How are the predictions compare to the actual movements of the stocks?</a:t>
            </a:r>
          </a:p>
          <a:p>
            <a:endParaRPr lang="en-US" dirty="0"/>
          </a:p>
        </p:txBody>
      </p:sp>
      <p:pic>
        <p:nvPicPr>
          <p:cNvPr id="5" name="Picture 4" descr="Chart&#10;&#10;Description automatically generated">
            <a:extLst>
              <a:ext uri="{FF2B5EF4-FFF2-40B4-BE49-F238E27FC236}">
                <a16:creationId xmlns:a16="http://schemas.microsoft.com/office/drawing/2014/main" id="{4CBB514A-8F5A-324E-916C-DDEFA7DB71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0628" y="936131"/>
            <a:ext cx="6823075" cy="2819440"/>
          </a:xfrm>
          <a:prstGeom prst="rect">
            <a:avLst/>
          </a:prstGeom>
        </p:spPr>
      </p:pic>
      <p:pic>
        <p:nvPicPr>
          <p:cNvPr id="7" name="Picture 6">
            <a:extLst>
              <a:ext uri="{FF2B5EF4-FFF2-40B4-BE49-F238E27FC236}">
                <a16:creationId xmlns:a16="http://schemas.microsoft.com/office/drawing/2014/main" id="{B41FAEC7-DD3C-904A-BDD1-7CFB581959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4024" y="3679371"/>
            <a:ext cx="6916282" cy="3022090"/>
          </a:xfrm>
          <a:prstGeom prst="rect">
            <a:avLst/>
          </a:prstGeom>
        </p:spPr>
      </p:pic>
      <p:sp>
        <p:nvSpPr>
          <p:cNvPr id="8" name="TextBox 7">
            <a:extLst>
              <a:ext uri="{FF2B5EF4-FFF2-40B4-BE49-F238E27FC236}">
                <a16:creationId xmlns:a16="http://schemas.microsoft.com/office/drawing/2014/main" id="{98D0F27A-F155-6541-96F2-F0A387C40F05}"/>
              </a:ext>
            </a:extLst>
          </p:cNvPr>
          <p:cNvSpPr txBox="1"/>
          <p:nvPr/>
        </p:nvSpPr>
        <p:spPr>
          <a:xfrm>
            <a:off x="198490" y="4267086"/>
            <a:ext cx="3230510" cy="1200329"/>
          </a:xfrm>
          <a:prstGeom prst="rect">
            <a:avLst/>
          </a:prstGeom>
          <a:noFill/>
        </p:spPr>
        <p:txBody>
          <a:bodyPr wrap="square" rtlCol="0">
            <a:spAutoFit/>
          </a:bodyPr>
          <a:lstStyle/>
          <a:p>
            <a:r>
              <a:rPr lang="en-US" dirty="0">
                <a:solidFill>
                  <a:schemeClr val="bg1"/>
                </a:solidFill>
              </a:rPr>
              <a:t>From the graphs on the right, we can see that LSTM has predicted stocks almost like actual stocks</a:t>
            </a:r>
          </a:p>
        </p:txBody>
      </p:sp>
    </p:spTree>
    <p:extLst>
      <p:ext uri="{BB962C8B-B14F-4D97-AF65-F5344CB8AC3E}">
        <p14:creationId xmlns:p14="http://schemas.microsoft.com/office/powerpoint/2010/main" val="3543478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18">
            <a:extLst>
              <a:ext uri="{FF2B5EF4-FFF2-40B4-BE49-F238E27FC236}">
                <a16:creationId xmlns:a16="http://schemas.microsoft.com/office/drawing/2014/main" id="{07CBBDD0-4420-4A50-96AB-392F9B97C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0">
            <a:extLst>
              <a:ext uri="{FF2B5EF4-FFF2-40B4-BE49-F238E27FC236}">
                <a16:creationId xmlns:a16="http://schemas.microsoft.com/office/drawing/2014/main" id="{465BA403-54B9-4A0B-BC79-028C495C0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7" y="761999"/>
            <a:ext cx="7552943"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6A1EC047-DB75-BC4C-BEB4-A50611C53062}"/>
              </a:ext>
            </a:extLst>
          </p:cNvPr>
          <p:cNvSpPr>
            <a:spLocks noGrp="1"/>
          </p:cNvSpPr>
          <p:nvPr>
            <p:ph type="ctrTitle"/>
          </p:nvPr>
        </p:nvSpPr>
        <p:spPr>
          <a:xfrm>
            <a:off x="5300742" y="2035836"/>
            <a:ext cx="6229569" cy="2125072"/>
          </a:xfrm>
        </p:spPr>
        <p:txBody>
          <a:bodyPr>
            <a:normAutofit/>
          </a:bodyPr>
          <a:lstStyle/>
          <a:p>
            <a:r>
              <a:rPr lang="en-US" sz="7200" dirty="0"/>
              <a:t>Thank you!</a:t>
            </a:r>
            <a:br>
              <a:rPr lang="en-US" sz="7200" dirty="0"/>
            </a:br>
            <a:r>
              <a:rPr lang="en-US" sz="7200" dirty="0"/>
              <a:t>Q&amp;A</a:t>
            </a:r>
          </a:p>
        </p:txBody>
      </p:sp>
      <p:sp>
        <p:nvSpPr>
          <p:cNvPr id="3" name="Subtitle 2">
            <a:extLst>
              <a:ext uri="{FF2B5EF4-FFF2-40B4-BE49-F238E27FC236}">
                <a16:creationId xmlns:a16="http://schemas.microsoft.com/office/drawing/2014/main" id="{7CF2DB0A-59F7-7B4C-809E-BBE21FDCB74C}"/>
              </a:ext>
            </a:extLst>
          </p:cNvPr>
          <p:cNvSpPr>
            <a:spLocks noGrp="1"/>
          </p:cNvSpPr>
          <p:nvPr>
            <p:ph type="subTitle" idx="1"/>
          </p:nvPr>
        </p:nvSpPr>
        <p:spPr>
          <a:xfrm>
            <a:off x="5396576" y="4822164"/>
            <a:ext cx="6037903" cy="914400"/>
          </a:xfrm>
        </p:spPr>
        <p:txBody>
          <a:bodyPr>
            <a:normAutofit/>
          </a:bodyPr>
          <a:lstStyle/>
          <a:p>
            <a:r>
              <a:rPr lang="en-US" dirty="0"/>
              <a:t>Gabriella Yuan &amp; Roslyn Payne</a:t>
            </a:r>
          </a:p>
        </p:txBody>
      </p:sp>
      <p:sp>
        <p:nvSpPr>
          <p:cNvPr id="23" name="Rectangle 22">
            <a:extLst>
              <a:ext uri="{FF2B5EF4-FFF2-40B4-BE49-F238E27FC236}">
                <a16:creationId xmlns:a16="http://schemas.microsoft.com/office/drawing/2014/main" id="{DC8C6883-513A-4FE8-8B55-7AA2A13A9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Graphic 6" descr="Robot">
            <a:extLst>
              <a:ext uri="{FF2B5EF4-FFF2-40B4-BE49-F238E27FC236}">
                <a16:creationId xmlns:a16="http://schemas.microsoft.com/office/drawing/2014/main" id="{5F69AB37-2925-4233-8407-8F66962A27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70596" y="3011060"/>
            <a:ext cx="2917687" cy="2917687"/>
          </a:xfrm>
          <a:prstGeom prst="rect">
            <a:avLst/>
          </a:prstGeom>
        </p:spPr>
      </p:pic>
      <p:pic>
        <p:nvPicPr>
          <p:cNvPr id="1026" name="Picture 2" descr="THE A.I. GOLD-MINE: PREDICTING STOCK MARKET SUCCESS | by RE•WORK | Above  Intelligent™ AI/ML News Publication">
            <a:extLst>
              <a:ext uri="{FF2B5EF4-FFF2-40B4-BE49-F238E27FC236}">
                <a16:creationId xmlns:a16="http://schemas.microsoft.com/office/drawing/2014/main" id="{B79CB996-B3BC-584A-8E49-F35343872D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204" y="727254"/>
            <a:ext cx="4546312" cy="5371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8421979"/>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1498</TotalTime>
  <Words>588</Words>
  <Application>Microsoft Office PowerPoint</Application>
  <PresentationFormat>Widescreen</PresentationFormat>
  <Paragraphs>40</Paragraphs>
  <Slides>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Calibri</vt:lpstr>
      <vt:lpstr>Corbel</vt:lpstr>
      <vt:lpstr>Georgia</vt:lpstr>
      <vt:lpstr>Slack-Lato</vt:lpstr>
      <vt:lpstr>Wingdings 2</vt:lpstr>
      <vt:lpstr>Frame</vt:lpstr>
      <vt:lpstr>Stock Price Prediction – Machine Learning Project in Python </vt:lpstr>
      <vt:lpstr>Project Overview </vt:lpstr>
      <vt:lpstr>LSTM </vt:lpstr>
      <vt:lpstr>Stock Price Prediction with LSTM </vt:lpstr>
      <vt:lpstr>Plotly</vt:lpstr>
      <vt:lpstr>Past Stock Prices Analysis</vt:lpstr>
      <vt:lpstr>Our  Analysis </vt:lpstr>
      <vt:lpstr>Predicted result                vs  Actual result </vt:lpstr>
      <vt:lpstr>Thank you! 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Price Prediction – Machine Learning Project in Python </dc:title>
  <dc:creator>Gabriella Yuan</dc:creator>
  <cp:lastModifiedBy>roslyn payne</cp:lastModifiedBy>
  <cp:revision>17</cp:revision>
  <dcterms:created xsi:type="dcterms:W3CDTF">2020-10-23T01:09:22Z</dcterms:created>
  <dcterms:modified xsi:type="dcterms:W3CDTF">2020-10-24T02:21:23Z</dcterms:modified>
</cp:coreProperties>
</file>